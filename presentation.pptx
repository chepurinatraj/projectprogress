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1A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502920"/>
            <a:ext cx="9445752" cy="59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777240"/>
            <a:ext cx="8897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C1A16"/>
                </a:solidFill>
                <a:latin typeface="Inter"/>
              </a:rPr>
              <a:t>DUAL MODE VISION-GUIDED ROBOTIC 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307592"/>
            <a:ext cx="8897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A4035"/>
                </a:solidFill>
                <a:latin typeface="Inter"/>
              </a:rPr>
              <a:t>A Project report submitted in partial fulfilment of the requirement for the degree of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645920"/>
            <a:ext cx="8897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92B"/>
                </a:solidFill>
                <a:latin typeface="Inter"/>
              </a:rPr>
              <a:t>BACHELOR OF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920240"/>
            <a:ext cx="8897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4035"/>
                </a:solidFill>
                <a:latin typeface="Inter"/>
              </a:rP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67128"/>
            <a:ext cx="8897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92B"/>
                </a:solidFill>
                <a:latin typeface="Inter"/>
              </a:rPr>
              <a:t>ELECTRONICS AND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487168"/>
            <a:ext cx="8897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7AE60"/>
                </a:solidFill>
                <a:latin typeface="Inter"/>
              </a:rPr>
              <a:t>SUBMITTED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61488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A16"/>
                </a:solidFill>
                <a:latin typeface="Inter"/>
              </a:rPr>
              <a:t>CHADARAM MAANAS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7614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D6E"/>
                </a:solidFill>
                <a:latin typeface="Inter"/>
              </a:rPr>
              <a:t>Reg No: 321106512004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00837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A16"/>
                </a:solidFill>
                <a:latin typeface="Inter"/>
              </a:rPr>
              <a:t>BORA ABHINAV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008376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D6E"/>
                </a:solidFill>
                <a:latin typeface="Inter"/>
              </a:rPr>
              <a:t>Reg No: 321106512005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255264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A16"/>
                </a:solidFill>
                <a:latin typeface="Inter"/>
              </a:rPr>
              <a:t>CHEPURI NATRAJ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55264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D6E"/>
                </a:solidFill>
                <a:latin typeface="Inter"/>
              </a:rPr>
              <a:t>Reg No: 321106512006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02152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A16"/>
                </a:solidFill>
                <a:latin typeface="Inter"/>
              </a:rPr>
              <a:t>MANNAVA SREE PARDHEEV KUMAR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50215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D6E"/>
                </a:solidFill>
                <a:latin typeface="Inter"/>
              </a:rPr>
              <a:t>Reg No: 321106512028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822192"/>
            <a:ext cx="8897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6B8A"/>
                </a:solidFill>
                <a:latin typeface="Inter"/>
              </a:rPr>
              <a:t>UNDER THE ESTEEMED GUIDANCE 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078224"/>
            <a:ext cx="8897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6B8A"/>
                </a:solidFill>
                <a:latin typeface="Inter"/>
              </a:rPr>
              <a:t>Prof. P. RAJESH KUMAR M.E., Ph.D.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352544"/>
            <a:ext cx="88971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A4035"/>
                </a:solidFill>
                <a:latin typeface="Inter"/>
              </a:rPr>
              <a:t>Professor</a:t>
            </a:r>
          </a:p>
        </p:txBody>
      </p:sp>
      <p:pic>
        <p:nvPicPr>
          <p:cNvPr id="21" name="Picture 20" descr="AU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4626864"/>
            <a:ext cx="944326" cy="7315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657600" y="5495544"/>
            <a:ext cx="4873752" cy="12700"/>
          </a:xfrm>
          <a:prstGeom prst="rect">
            <a:avLst/>
          </a:prstGeom>
          <a:solidFill>
            <a:srgbClr val="CCC4B8"/>
          </a:solidFill>
          <a:ln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45920" y="5605272"/>
            <a:ext cx="8897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A16"/>
                </a:solidFill>
                <a:latin typeface="Inter"/>
              </a:rPr>
              <a:t>DEPARTMENT OF ELECTRONICS AND COMMUNICATION ENGINEERING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852160"/>
            <a:ext cx="889711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A16"/>
                </a:solidFill>
                <a:latin typeface="Inter"/>
              </a:rPr>
              <a:t>ANDHRA UNIVERSITY COLLEGE OF ENGINEERING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6089904"/>
            <a:ext cx="88971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A4035"/>
                </a:solidFill>
                <a:latin typeface="Inter"/>
              </a:rPr>
              <a:t>VISAKHAPATNAM – 530003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6309360"/>
            <a:ext cx="88971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D6E"/>
                </a:solidFill>
                <a:latin typeface="Inter"/>
              </a:rPr>
              <a:t>2022–2026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1A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C1A16"/>
                </a:solidFill>
                <a:latin typeface="Inter"/>
              </a:rPr>
              <a:t>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7D6E"/>
                </a:solidFill>
                <a:latin typeface="Inter"/>
              </a:rPr>
              <a:t>Abstract   |   2/10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34440"/>
            <a:ext cx="566928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🎯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53035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035"/>
                </a:solidFill>
                <a:latin typeface="Inter"/>
              </a:rPr>
              <a:t>This project develops a 6-DOF robotic arm capable of autonomous object sorting via computer vision and human-in-the-loop gesture control, switching seamlessly between modes without physical intervention.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234440"/>
            <a:ext cx="566928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371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🏗️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645920"/>
            <a:ext cx="53035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035"/>
                </a:solidFill>
                <a:latin typeface="Inter"/>
              </a:rPr>
              <a:t>Hardware: 6× MG996R servos on a metal arm kit, ESP8266 microcontroller, MPU6050 IMU. Software: ROS2 Jazzy, Gazebo Harmonic for physics simulation, RViz for visualisation, YOLOv8 for hand/object detection.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794760"/>
            <a:ext cx="566928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9319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📊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06240"/>
            <a:ext cx="53035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035"/>
                </a:solidFill>
                <a:latin typeface="Inter"/>
              </a:rPr>
              <a:t>Milestones complete: (1) hardware procured; (2) custom URDF developed after iterative adaptation; (3) arm simulated in Gazebo &amp; RViz; (4) initial ESP8266 servo control written; (5) YOLO hand detection tested — pipeline integration ongoing.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794760"/>
            <a:ext cx="566928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319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🔬 SIGNIFICANCE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206240"/>
            <a:ext cx="53035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035"/>
                </a:solidFill>
                <a:latin typeface="Inter"/>
              </a:rPr>
              <a:t>Dual-track development (hardware + software simulation) validates each track independently, reducing integration risk and ensuring a testable prototype at every phase of the project lifecycle.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1A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C1A16"/>
                </a:solidFill>
                <a:latin typeface="Inter"/>
              </a:rPr>
              <a:t>System Architecture &amp;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D6E"/>
                </a:solidFill>
                <a:latin typeface="Inter"/>
              </a:rPr>
              <a:t>Two parallel development tracks converging into one unified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537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7D6E"/>
                </a:solidFill>
                <a:latin typeface="Inter"/>
              </a:rPr>
              <a:t>System Architecture &amp; Tools   |   3/10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56692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2691E"/>
                </a:solidFill>
                <a:latin typeface="Inter"/>
              </a:rPr>
              <a:t>Hardware 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035"/>
                </a:solidFill>
                <a:latin typeface="Inter"/>
              </a:rPr>
              <a:t>• 6-DOF Metal Servo Arm Kit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04871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035"/>
                </a:solidFill>
                <a:latin typeface="Inter"/>
              </a:rPr>
              <a:t>• 6× MG996R Servo Motors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35223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035"/>
                </a:solidFill>
                <a:latin typeface="Inter"/>
              </a:rPr>
              <a:t>• ESP8266 Microcontroller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6557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035"/>
                </a:solidFill>
                <a:latin typeface="Inter"/>
              </a:rPr>
              <a:t>• IMU Sensor (MPU6050)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95927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035"/>
                </a:solidFill>
                <a:latin typeface="Inter"/>
              </a:rPr>
              <a:t>• 5V / 10A Dedicated PSU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6692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4630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8A"/>
                </a:solidFill>
                <a:latin typeface="Inter"/>
              </a:rPr>
              <a:t>Software Track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874519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035"/>
                </a:solidFill>
                <a:latin typeface="Inter"/>
              </a:rPr>
              <a:t>• ROS2 Jazzy Jalisco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04871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035"/>
                </a:solidFill>
                <a:latin typeface="Inter"/>
              </a:rPr>
              <a:t>• Gazebo Harmonic (Simulation)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35223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035"/>
                </a:solidFill>
                <a:latin typeface="Inter"/>
              </a:rPr>
              <a:t>• RViz (Visualisation)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46557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035"/>
                </a:solidFill>
                <a:latin typeface="Inter"/>
              </a:rPr>
              <a:t>• YOLOv8 (Hand Detection)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995927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035"/>
                </a:solidFill>
                <a:latin typeface="Inter"/>
              </a:rPr>
              <a:t>• OpenCV + MediaPipe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623560"/>
            <a:ext cx="100584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6B8A"/>
                </a:solidFill>
                <a:latin typeface="Inter"/>
              </a:rPr>
              <a:t>IMU / Camera Feed  →  ESP8266 / ROS2  →  Servo Motor Commands  →  Arm Motion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1A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C1A16"/>
                </a:solidFill>
                <a:latin typeface="Inter"/>
              </a:rPr>
              <a:t>Phase 1 — Hardware Procurement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7D6E"/>
                </a:solidFill>
                <a:latin typeface="Inter"/>
              </a:rPr>
              <a:t>Phase 1 — Hardware Procurement   |   4/13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822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6B8A"/>
                </a:solidFill>
                <a:latin typeface="Inter"/>
              </a:rPr>
              <a:t>✅ Completed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27432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6B8A"/>
                </a:solidFill>
                <a:latin typeface="Inter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2468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4035"/>
                </a:solidFill>
                <a:latin typeface="Inter"/>
              </a:rPr>
              <a:t>All primary hardware components were ordered and received. Component selection was finalised based on torque, availability, and ESP8266 compatibility.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3756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AE60"/>
                </a:solidFill>
                <a:latin typeface="Inter"/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6A4F"/>
                </a:solidFill>
                <a:latin typeface="Inter"/>
              </a:rPr>
              <a:t>All hardware is on hand and ready for wiring and firmware integration.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234440"/>
            <a:ext cx="5029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34416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1325880"/>
            <a:ext cx="4251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Component Selection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1581912"/>
            <a:ext cx="4251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Six MG996R servos (9–11 kg·cm), ESP8266 NodeMCU for Wi-Fi PWM control, MPU6050 IMU for 6-axis feedback. Initial plan called for 4 servos; upgraded to 6 for full DOF.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514600"/>
            <a:ext cx="5029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62432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606040"/>
            <a:ext cx="4251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Procurement &amp; Delivery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2862072"/>
            <a:ext cx="4251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Components sourced and ordered. Arm kit, servos, ESP8266, IMU, and 5V/10A PSU all received and inspected.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3794760"/>
            <a:ext cx="5029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390448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886200"/>
            <a:ext cx="4251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Inventory Verified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142232"/>
            <a:ext cx="4251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6× MG996R, 1× ESP8266 NodeMCU, 1× MPU6050, 1× 6-DOF frame + claw gripper, 1× 5V/10A PSU — confirmed complete.</a:t>
            </a:r>
          </a:p>
        </p:txBody>
      </p:sp>
      <p:pic>
        <p:nvPicPr>
          <p:cNvPr id="23" name="Picture 22" descr="UNASSEMBLED ROBOTIC MODE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234440"/>
            <a:ext cx="3474720" cy="46569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WARE REPRESENTA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9149" y="0"/>
            <a:ext cx="1228725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MEBL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155" y="0"/>
            <a:ext cx="513064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1A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C1A16"/>
                </a:solidFill>
                <a:latin typeface="Inter"/>
              </a:rPr>
              <a:t>Phase 2 — 3D Model &amp; URDF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7D6E"/>
                </a:solidFill>
                <a:latin typeface="Inter"/>
              </a:rPr>
              <a:t>Phase 2 — 3D Model &amp; URDF Development   |   7/13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822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6B8A"/>
                </a:solidFill>
                <a:latin typeface="Inter"/>
              </a:rPr>
              <a:t>✅ Completed (Multiple Iterations)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31089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6B8A"/>
                </a:solidFill>
                <a:latin typeface="Inter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2834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4035"/>
                </a:solidFill>
                <a:latin typeface="Inter"/>
              </a:rPr>
              <a:t>A URDF is mandatory for Gazebo simulation. No pre-existing URDF matched our hardware, so one was created from an adapted open-source reference.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37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AE60"/>
                </a:solidFill>
                <a:latin typeface="Inter"/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6A4F"/>
                </a:solidFill>
                <a:latin typeface="Inter"/>
              </a:rPr>
              <a:t>Working Xacro URDF produced and integrated into the ROS2 workspace package my_arm_description.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1234440"/>
            <a:ext cx="82296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134416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325880"/>
            <a:ext cx="7452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Challenge: No Matching URDF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581912"/>
            <a:ext cx="7452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The purchased 6-DOF metal arm kit has no freely available 3D model or URDF online. Without a URDF, simulation and motion planning are impossible.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2514600"/>
            <a:ext cx="82296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262432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606040"/>
            <a:ext cx="7452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Reference Model Located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862072"/>
            <a:ext cx="7452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ferasboulala/five-dof-robot-arm on GitHub was used as a base. Mesh proportions and joint placements were studied against the physical hardware.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3794760"/>
            <a:ext cx="82296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390448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886200"/>
            <a:ext cx="7452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Iterative Adaptation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142232"/>
            <a:ext cx="7452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Multiple attempts: adjusting link lengths, correcting joint axes, converting to ROS2 Xacro format, adding the 6th joint and gripper, fixing mesh collision/inertia errors.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5074920"/>
            <a:ext cx="82296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518464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5166360"/>
            <a:ext cx="7452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Working Model Achieved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422392"/>
            <a:ext cx="7452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Stable Xacro URDF produced with 6 correctly defined joints, link inertias, and collision geometry — sufficient for simulation and motion planning.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1A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C1A16"/>
                </a:solidFill>
                <a:latin typeface="Inter"/>
              </a:rPr>
              <a:t>Phase 3 — Simulation in Gazebo &amp; RViz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7D6E"/>
                </a:solidFill>
                <a:latin typeface="Inter"/>
              </a:rPr>
              <a:t>Phase 3 — Simulation in Gazebo &amp; RViz   |   8/13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822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6B8A"/>
                </a:solidFill>
                <a:latin typeface="Inter"/>
              </a:rPr>
              <a:t>✅ Completed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27432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6B8A"/>
                </a:solidFill>
                <a:latin typeface="Inter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2468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4035"/>
                </a:solidFill>
                <a:latin typeface="Inter"/>
              </a:rPr>
              <a:t>With the URDF ready, the arm was loaded into Gazebo Harmonic (physics sim) and RViz (kinematic visualisation) as the primary testbed before hardware deployment.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3756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AE60"/>
                </a:solidFill>
                <a:latin typeface="Inter"/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6A4F"/>
                </a:solidFill>
                <a:latin typeface="Inter"/>
              </a:rPr>
              <a:t>Arm simulates correctly in Gazebo with physics-accurate joint motion. Trajectory commands execute reliably via ROS2 topics.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234440"/>
            <a:ext cx="5029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34416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1325880"/>
            <a:ext cx="4251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RViz Visualisation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1581912"/>
            <a:ext cx="4251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Loaded via display.launch.py. joint_state_publisher_gui sliders confirmed all 6 joints move correctly. Link transforms verified.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514600"/>
            <a:ext cx="5029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62432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606040"/>
            <a:ext cx="4251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Gazebo Harmonic Launch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2862072"/>
            <a:ext cx="4251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Arm spawned via gazebo.launch.py. gz-ros2-bridge configured to relay joint states. JointTrajectoryController from ros2_control activated.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3794760"/>
            <a:ext cx="5029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390448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886200"/>
            <a:ext cx="4251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Controller Verification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142232"/>
            <a:ext cx="4251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ros2 control list_controllers confirmed joint_trajectory_controller and joint_state_broadcaster active.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0" y="5074920"/>
            <a:ext cx="5029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518464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166360"/>
            <a:ext cx="4251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Motion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422392"/>
            <a:ext cx="4251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Test trajectory commands published via ros2 topic pub. Pick-place sequences and joint-level position commands prototyped in simulation.</a:t>
            </a:r>
          </a:p>
        </p:txBody>
      </p:sp>
      <p:pic>
        <p:nvPicPr>
          <p:cNvPr id="27" name="Picture 26" descr="RVIZ IMAGE OF MODE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234440"/>
            <a:ext cx="3474720" cy="16765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1A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C1A16"/>
                </a:solidFill>
                <a:latin typeface="Inter"/>
              </a:rPr>
              <a:t>Phase 4 — Servo Motor Control (ESP8266)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7D6E"/>
                </a:solidFill>
                <a:latin typeface="Inter"/>
              </a:rPr>
              <a:t>Phase 4 — Servo Motor Control (ESP8266)   |   9/13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822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2691E"/>
                </a:solidFill>
                <a:latin typeface="Inter"/>
              </a:rPr>
              <a:t>🔄 In Progress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31089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6B8A"/>
                </a:solidFill>
                <a:latin typeface="Inter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2834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4035"/>
                </a:solidFill>
                <a:latin typeface="Inter"/>
              </a:rPr>
              <a:t>Initial development of servo motor control firmware on the ESP8266 began in parallel with simulation. This is the hardware counterpart to the simulated JointTrajectoryController.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37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AE60"/>
                </a:solidFill>
                <a:latin typeface="Inter"/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6A4F"/>
                </a:solidFill>
                <a:latin typeface="Inter"/>
              </a:rPr>
              <a:t>Individual servo control functional. Multi-servo coordination and ROS2–ESP8266 bridge are the next steps.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1234440"/>
            <a:ext cx="82296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134416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325880"/>
            <a:ext cx="7452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ESP8266 PWM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581912"/>
            <a:ext cx="7452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ESP8266 NodeMCU selected for built-in Wi-Fi and PWM output. Will receive joint angle commands and translate them to PWM signals for all 6 MG996R servos.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2514600"/>
            <a:ext cx="82296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262432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606040"/>
            <a:ext cx="7452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Signal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862072"/>
            <a:ext cx="7452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MG996R servos need 50 Hz PWM, 500–2500 µs pulse width for full motion range. Initial firmware maps angle → pulse width and generates signals on digital IO pins.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3794760"/>
            <a:ext cx="82296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390448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886200"/>
            <a:ext cx="7452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Initial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142232"/>
            <a:ext cx="7452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Preliminary tests on individual servo motors complete. Smooth angle transitions with configurable speed implemented to prevent jerky motion.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1A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C1A16"/>
                </a:solidFill>
                <a:latin typeface="Inter"/>
              </a:rPr>
              <a:t>Phase 5 — Computer Vision Integration (YOLO)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7D6E"/>
                </a:solidFill>
                <a:latin typeface="Inter"/>
              </a:rPr>
              <a:t>Phase 5 — Computer Vision Integration (YOLO)   |   10/13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822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2691E"/>
                </a:solidFill>
                <a:latin typeface="Inter"/>
              </a:rPr>
              <a:t>🔄 Under Development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27432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6B8A"/>
                </a:solidFill>
                <a:latin typeface="Inter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2468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4035"/>
                </a:solidFill>
                <a:latin typeface="Inter"/>
              </a:rPr>
              <a:t>A YOLOv8-based pipeline was developed to detect a human hand and convert that detection into servo movement commands. This is the core intelligence of gesture control mode.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3756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AE60"/>
                </a:solidFill>
                <a:latin typeface="Inter"/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6A4F"/>
                </a:solidFill>
                <a:latin typeface="Inter"/>
              </a:rPr>
              <a:t>Hand detection functional in isolation. Full pipeline integration into ROS2 + servo chain is the current blocker under active debugging.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234440"/>
            <a:ext cx="5029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34416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1325880"/>
            <a:ext cx="4251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YOLOv8 Model 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1581912"/>
            <a:ext cx="4251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YOLOv8 (Ultralytics) configured on NVIDIA RTX 3060 with CUDA 12.1 for accelerated inference. Targeting real-time &gt;30 FPS performance.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514600"/>
            <a:ext cx="5029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62432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606040"/>
            <a:ext cx="4251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Detection → Command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2862072"/>
            <a:ext cx="4251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Intended: camera → YOLOv8 bounding box → centroid → IK → 6 joint angles → ESP8266 servo commands. Partially implemented.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3794760"/>
            <a:ext cx="5029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390448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886200"/>
            <a:ext cx="4251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Integration Issues Found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142232"/>
            <a:ext cx="4251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Latency spikes in detection-to-command loop, coordinate mapping calibration errors, and serialization issues passing YOLO output into ROS2 topics.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0" y="5074920"/>
            <a:ext cx="5029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5184648"/>
            <a:ext cx="4572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6B8A"/>
                </a:solidFill>
                <a:latin typeface="Inter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166360"/>
            <a:ext cx="4251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6"/>
                </a:solidFill>
                <a:latin typeface="Inter"/>
              </a:rPr>
              <a:t>Current Status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422392"/>
            <a:ext cx="4251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  <a:latin typeface="Inter"/>
              </a:rPr>
              <a:t>YOLO detects hands reliably in isolation. End-to-end integration from detection to servo command under active debugging and expected to resolve in next cycle.</a:t>
            </a:r>
          </a:p>
        </p:txBody>
      </p:sp>
      <p:pic>
        <p:nvPicPr>
          <p:cNvPr id="27" name="Picture 26" descr="YOLO HAND DET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234440"/>
            <a:ext cx="3474720" cy="207565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1A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C1A16"/>
                </a:solidFill>
                <a:latin typeface="Inter"/>
              </a:rPr>
              <a:t>Challenges &amp; Current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D6E"/>
                </a:solidFill>
                <a:latin typeface="Inter"/>
              </a:rPr>
              <a:t>Dual-track development: each track validated independently, converging at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537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7D6E"/>
                </a:solidFill>
                <a:latin typeface="Inter"/>
              </a:rPr>
              <a:t>Challenges &amp; Current Status   |   11/12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715000" cy="4251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3716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2691E"/>
                </a:solidFill>
                <a:latin typeface="Inter"/>
              </a:rPr>
              <a:t>Hardware 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737360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7D6E"/>
                </a:solidFill>
                <a:latin typeface="Inter"/>
              </a:rPr>
              <a:t>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659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✅  All components procured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249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✅  Specs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5328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✅  ESP8266 PWM firmware written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8163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✅  Individual servo response tested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145536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7D6E"/>
                </a:solidFill>
                <a:latin typeface="Inter"/>
              </a:rPr>
              <a:t>PENDING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3741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D6E"/>
                </a:solidFill>
                <a:latin typeface="Inter"/>
              </a:rPr>
              <a:t>⏳  Full arm assembly &amp; wiring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6576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D6E"/>
                </a:solidFill>
                <a:latin typeface="Inter"/>
              </a:rPr>
              <a:t>⏳  Multi-servo coordinated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4106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D6E"/>
                </a:solidFill>
                <a:latin typeface="Inter"/>
              </a:rPr>
              <a:t>⏳  ROS2 ↔ ESP8266 serial bridge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22452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D6E"/>
                </a:solidFill>
                <a:latin typeface="Inter"/>
              </a:rPr>
              <a:t>⏳  IMU integration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280160"/>
            <a:ext cx="5715000" cy="4251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3716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8A"/>
                </a:solidFill>
                <a:latin typeface="Inter"/>
              </a:rPr>
              <a:t>Software Track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737360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7D6E"/>
                </a:solidFill>
                <a:latin typeface="Inter"/>
              </a:rPr>
              <a:t>COMPLETED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19659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✅  URDF created after iterative adaptation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249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✅  Arm visualised in RViz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5328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✅  Gazebo simulation running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8163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✅  ros2_control JTC 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0998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✅  YOLOv8 detection working in isolation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3429000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7D6E"/>
                </a:solidFill>
                <a:latin typeface="Inter"/>
              </a:rPr>
              <a:t>PENDING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36576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D6E"/>
                </a:solidFill>
                <a:latin typeface="Inter"/>
              </a:rPr>
              <a:t>⏳  YOLO → ROS2 command 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394106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D6E"/>
                </a:solidFill>
                <a:latin typeface="Inter"/>
              </a:rPr>
              <a:t>⏳  Camera-to-workspace calibration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422452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D6E"/>
                </a:solidFill>
                <a:latin typeface="Inter"/>
              </a:rPr>
              <a:t>⏳  MoveIt2 motion planning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45079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D6E"/>
                </a:solidFill>
                <a:latin typeface="Inter"/>
              </a:rPr>
              <a:t>⏳  Autonomous mode logic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6692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2691E"/>
                </a:solidFill>
                <a:latin typeface="Inter"/>
              </a:rPr>
              <a:t>Key Challenge: The most significant obstacle was the absence of a ready-made URDF for the purchased arm kit, requiring multiple iterative reconstruction attempts before a working simulation model was produced.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1A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C1A16"/>
                </a:solidFill>
                <a:latin typeface="Inter"/>
              </a:rPr>
              <a:t>Next Steps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D6E"/>
                </a:solidFill>
                <a:latin typeface="Inter"/>
              </a:rPr>
              <a:t>Structured development path — testable artefact at every phase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537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7D6E"/>
                </a:solidFill>
                <a:latin typeface="Inter"/>
              </a:rPr>
              <a:t>Next Steps &amp; Roadmap   |   12/12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283464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7D6E"/>
                </a:solidFill>
                <a:latin typeface="Inter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  <a:latin typeface="Inter"/>
              </a:rPr>
              <a:t>Hardware Assembly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Wire all 6 servos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Connect IMU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6265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PSU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38144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Bench test all joints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1325880"/>
            <a:ext cx="283464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1417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7D6E"/>
                </a:solidFill>
                <a:latin typeface="Inter"/>
              </a:rPr>
              <a:t>P2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B8A"/>
                </a:solidFill>
                <a:latin typeface="Inter"/>
              </a:rPr>
              <a:t>ROS2 ↔ Hardware Bridge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20116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ESP8266 serial bridge node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24871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ROS2 JointTrajectory → servo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296265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Real HW controller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3438144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ros2_control HW interface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18504" y="1325880"/>
            <a:ext cx="283464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1417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7D6E"/>
                </a:solidFill>
                <a:latin typeface="Inter"/>
              </a:rPr>
              <a:t>P3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Inter"/>
              </a:rPr>
              <a:t>Vision Pipeline Fix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20116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Debug YOLO → ROS2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4871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Camera calibration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296265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Coordinate mapping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3438144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Latency test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17736" y="1325880"/>
            <a:ext cx="283464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54896" y="1417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7D6E"/>
                </a:solidFill>
                <a:latin typeface="Inter"/>
              </a:rPr>
              <a:t>P4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54896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2691E"/>
                </a:solidFill>
                <a:latin typeface="Inter"/>
              </a:rPr>
              <a:t>Full System 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54896" y="20116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Autonomous sorting mode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54896" y="24871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Gesture control (local)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54896" y="296265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Mode switching logic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54896" y="3438144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035"/>
                </a:solidFill>
                <a:latin typeface="Inter"/>
              </a:rPr>
              <a:t>→  50-cycle stress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94360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A7D6E"/>
                </a:solidFill>
                <a:latin typeface="Inter"/>
              </a:rPr>
              <a:t>Each phase produces a standalone demonstrable prototype — ensuring progress is always presentable regardless of final timeline.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