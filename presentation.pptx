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502920"/>
            <a:ext cx="9445752" cy="5943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7772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1A16"/>
                </a:solidFill>
                <a:latin typeface="Inter"/>
              </a:rPr>
              <a:t>DUAL MODE VISION-GUIDED ROBOTIC 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07592"/>
            <a:ext cx="8897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A4035"/>
                </a:solidFill>
                <a:latin typeface="Inter"/>
              </a:rPr>
              <a:t>A Project report submitted in partial fulfilment of the requirement for the degree of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97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Inter"/>
              </a:rPr>
              <a:t>BACHELOR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8897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035"/>
                </a:solidFill>
                <a:latin typeface="Inter"/>
              </a:rP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8897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Inter"/>
              </a:rPr>
              <a:t>ELECTRONICS AND COMMUNICATION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87168"/>
            <a:ext cx="8897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Inter"/>
              </a:rP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6148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A16"/>
                </a:solidFill>
                <a:latin typeface="Inter"/>
              </a:rPr>
              <a:t>CHADARAM MAANAS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7614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D6E"/>
                </a:solidFill>
                <a:latin typeface="Inter"/>
              </a:rPr>
              <a:t>Reg No: 321106512004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0837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A16"/>
                </a:solidFill>
                <a:latin typeface="Inter"/>
              </a:rPr>
              <a:t>BORA ABHINAV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083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D6E"/>
                </a:solidFill>
                <a:latin typeface="Inter"/>
              </a:rPr>
              <a:t>Reg No: 321106512005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552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A16"/>
                </a:solidFill>
                <a:latin typeface="Inter"/>
              </a:rPr>
              <a:t>CHEPURI NATRAJ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55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D6E"/>
                </a:solidFill>
                <a:latin typeface="Inter"/>
              </a:rPr>
              <a:t>Reg No: 321106512006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50215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A16"/>
                </a:solidFill>
                <a:latin typeface="Inter"/>
              </a:rPr>
              <a:t>MANNAVA SREE PARDHEEV 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0215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7D6E"/>
                </a:solidFill>
                <a:latin typeface="Inter"/>
              </a:rPr>
              <a:t>Reg No: 321106512028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22192"/>
            <a:ext cx="8897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6B8A"/>
                </a:solidFill>
                <a:latin typeface="Inter"/>
              </a:rPr>
              <a:t>UNDER THE ESTEEMED GUIDANCE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78224"/>
            <a:ext cx="8897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6B8A"/>
                </a:solidFill>
                <a:latin typeface="Inter"/>
              </a:rPr>
              <a:t>Prof. P. RAJESH KUMAR M.E., Ph.D.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52544"/>
            <a:ext cx="8897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035"/>
                </a:solidFill>
                <a:latin typeface="Inter"/>
              </a:rPr>
              <a:t>Professor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626864"/>
            <a:ext cx="4873752" cy="12700"/>
          </a:xfrm>
          <a:prstGeom prst="rect">
            <a:avLst/>
          </a:prstGeom>
          <a:solidFill>
            <a:srgbClr val="CCC4B8"/>
          </a:solidFill>
          <a:ln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736592"/>
            <a:ext cx="8897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A16"/>
                </a:solidFill>
                <a:latin typeface="Inter"/>
              </a:rPr>
              <a:t>DEPARTMENT OF ELECTRONICS AND COMMUNICATION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83480"/>
            <a:ext cx="889711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1A16"/>
                </a:solidFill>
                <a:latin typeface="Inter"/>
              </a:rPr>
              <a:t>ANDHRA UNIVERSITY COLLEGE OF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21224"/>
            <a:ext cx="8897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4035"/>
                </a:solidFill>
                <a:latin typeface="Inter"/>
              </a:rPr>
              <a:t>VISAKHAPATNAM – 530003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440680"/>
            <a:ext cx="88971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  <a:latin typeface="Inter"/>
              </a:rPr>
              <a:t>2022–2026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Abstract   |   2/10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🎯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035"/>
                </a:solidFill>
                <a:latin typeface="Inter"/>
              </a:rPr>
              <a:t>This project develops a 6-DOF robotic arm capable of autonomous object sorting via computer vision and human-in-the-loop gesture control, switching seamlessly between modes without physical intervention.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🏗️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035"/>
                </a:solidFill>
                <a:latin typeface="Inter"/>
              </a:rPr>
              <a:t>Hardware: 6× MG996R servos on a metal arm kit, ESP8266 microcontroller, MPU6050 IMU. Software: ROS2 Jazzy, Gazebo Harmonic for physics simulation, RViz for visualisation, YOLOv8 for hand/object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94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📊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035"/>
                </a:solidFill>
                <a:latin typeface="Inter"/>
              </a:rPr>
              <a:t>Milestones complete: (1) hardware procured; (2) custom URDF developed after iterative adaptation; (3) arm simulated in Gazebo &amp; RViz; (4) initial ESP8266 servo control written; (5) YOLO hand detection tested — pipeline integration ongoing.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566928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🔬 SIGNIFICANCE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0624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035"/>
                </a:solidFill>
                <a:latin typeface="Inter"/>
              </a:rPr>
              <a:t>Dual-track development (hardware + software simulation) validates each track independently, reducing integration risk and ensuring a testable prototype at every phase of the project lifecycle.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System Architecture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D6E"/>
                </a:solidFill>
                <a:latin typeface="Inter"/>
              </a:rPr>
              <a:t>Two parallel development tracks converging into one unified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System Architecture &amp; Tools   |   3/10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56692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691E"/>
                </a:solidFill>
                <a:latin typeface="Inter"/>
              </a:rPr>
              <a:t>Hardware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6-DOF Metal Servo Arm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6× MG996R Servo Motors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5223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ESP8266 Microcontroller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6557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IMU Sensor (MPU6050)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9592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5V / 10A Dedicated PSU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25880"/>
            <a:ext cx="566928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63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8A"/>
                </a:solidFill>
                <a:latin typeface="Inter"/>
              </a:rPr>
              <a:t>Software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7451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ROS2 Jazzy Jalisco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04871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Gazebo Harmonic (Simulation)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35223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RViz (Visualisation)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6557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YOLOv8 (Hand Detection)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9592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035"/>
                </a:solidFill>
                <a:latin typeface="Inter"/>
              </a:rPr>
              <a:t>• OpenCV + MediaPipe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23560"/>
            <a:ext cx="10058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B8A"/>
                </a:solidFill>
                <a:latin typeface="Inter"/>
              </a:rPr>
              <a:t>IMU / Camera Feed  →  ESP8266 / ROS2  →  Servo Motor Commands  →  Arm Motion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Phase 1 — Hardware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Phase 1 — Hardware Procurement   |  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8A"/>
                </a:solidFill>
                <a:latin typeface="Inter"/>
              </a:rPr>
              <a:t>✅ Completed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8A"/>
                </a:solidFill>
                <a:latin typeface="Inte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035"/>
                </a:solidFill>
                <a:latin typeface="Inter"/>
              </a:rPr>
              <a:t>All primary hardware components were ordered and received. Component selection was finalised based on torque, availability, and ESP8266 compatibility.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Inter"/>
              </a:rPr>
              <a:t>All hardware is on hand and ready for wiring and firmware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34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4416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Component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8191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Six MG996R servos (9–11 kg·cm), ESP8266 NodeMCU for Wi-Fi PWM control, MPU6050 IMU for 6-axis feedback. Initial plan called for 4 servos; upgraded to 6 for full DOF.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146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62432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Procurement &amp;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Components sourced and ordered. Arm kit, servos, ESP8266, IMU, and 5V/10A PSU all received and inspected.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Inventory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6× MG996R, 1× ESP8266 NodeMCU, 1× MPU6050, 1× 6-DOF frame + claw gripper, 1× 5V/10A PSU — confirmed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Phase 2 — 3D Model &amp; URDF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Phase 2 — 3D Model &amp; URDF Development   |  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8A"/>
                </a:solidFill>
                <a:latin typeface="Inter"/>
              </a:rPr>
              <a:t>✅ Completed (Multiple Iterations)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8A"/>
                </a:solidFill>
                <a:latin typeface="Inte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035"/>
                </a:solidFill>
                <a:latin typeface="Inter"/>
              </a:rPr>
              <a:t>A URDF is mandatory for Gazebo simulation. No pre-existing URDF matched our hardware, so one was created from an adapted open-source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Inter"/>
              </a:rPr>
              <a:t>Working Xacro URDF produced and integrated into the ROS2 workspace package my_arm_description.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34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4416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Challenge: No Matching URDF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8191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The purchased 6-DOF metal arm kit has no freely available 3D model or URDF online. Without a URDF, simulation and motion planning are impossible.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146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62432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Reference Model Located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ferasboulala/five-dof-robot-arm on GitHub was used as a base. Mesh proportions and joint placements were studied against the physical hardware.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Iterative Adaptation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Multiple attempts: adjusting link lengths, correcting joint axes, converting to ROS2 Xacro format, adding the 6th joint and gripper, fixing mesh collision/inertia errors.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507492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18464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6636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Working Model Achieved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42239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Stable Xacro URDF produced with 6 correctly defined joints, link inertias, and collision geometry — sufficient for simulation and motion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Phase 3 — Simulation in Gazebo &amp; RViz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Phase 3 — Simulation in Gazebo &amp; RViz   |  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6B8A"/>
                </a:solidFill>
                <a:latin typeface="Inter"/>
              </a:rPr>
              <a:t>✅ Completed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8A"/>
                </a:solidFill>
                <a:latin typeface="Inte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035"/>
                </a:solidFill>
                <a:latin typeface="Inter"/>
              </a:rPr>
              <a:t>With the URDF ready, the arm was loaded into Gazebo Harmonic (physics sim) and RViz (kinematic visualisation) as the primary testbed before hardware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Inter"/>
              </a:rPr>
              <a:t>Arm simulates correctly in Gazebo with physics-accurate joint motion. Trajectory commands execute reliably via ROS2 topics.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34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4416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RViz Visualisation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8191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Loaded via display.launch.py. joint_state_publisher_gui sliders confirmed all 6 joints move correctly. Link transforms verified.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146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62432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Gazebo Harmonic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Arm spawned via gazebo.launch.py. gz-ros2-bridge configured to relay joint states. JointTrajectoryController from ros2_control activated.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Controller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ros2 control list_controllers confirmed joint_trajectory_controller and joint_state_broadcaster active.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507492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18464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6636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Motion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42239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Test trajectory commands published via ros2 topic pub. Pick-place sequences and joint-level position commands prototyped in simulation.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Phase 4 — Servo Motor Control (ESP8266)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Phase 4 — Servo Motor Control (ESP8266)   |  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2691E"/>
                </a:solidFill>
                <a:latin typeface="Inter"/>
              </a:rPr>
              <a:t>🔄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8A"/>
                </a:solidFill>
                <a:latin typeface="Inte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035"/>
                </a:solidFill>
                <a:latin typeface="Inter"/>
              </a:rPr>
              <a:t>Initial development of servo motor control firmware on the ESP8266 began in parallel with simulation. This is the hardware counterpart to the simulated JointTrajectoryController.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Inter"/>
              </a:rPr>
              <a:t>Individual servo control functional. Multi-servo coordination and ROS2–ESP8266 bridge are the next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34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4416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ESP8266 PWM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8191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ESP8266 NodeMCU selected for built-in Wi-Fi and PWM output. Will receive joint angle commands and translate them to PWM signals for all 6 MG996R servos.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146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62432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Signal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MG996R servos need 50 Hz PWM, 500–2500 µs pulse width for full motion range. Initial firmware maps angle → pulse width and generates signals on digital IO pins.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Initial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Preliminary tests on individual servo motors complete. Smooth angle transitions with configurable speed implemented to prevent jerky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Phase 5 — Computer Vision Integration (YOLO)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Phase 5 — Computer Vision Integration (YOLO)   |  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8229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2691E"/>
                </a:solidFill>
                <a:latin typeface="Inter"/>
              </a:rPr>
              <a:t>🔄 Under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108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6B8A"/>
                </a:solidFill>
                <a:latin typeface="Inter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2834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4035"/>
                </a:solidFill>
                <a:latin typeface="Inter"/>
              </a:rPr>
              <a:t>A YOLOv8-based pipeline was developed to detect a human hand and convert that detection into servo movement commands. This is the core intelligence of gesture control mode.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  <a:latin typeface="Inter"/>
              </a:rPr>
              <a:t>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661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6A4F"/>
                </a:solidFill>
                <a:latin typeface="Inter"/>
              </a:rPr>
              <a:t>Hand detection functional in isolation. Full pipeline integration into ROS2 + servo chain is the current blocker under active debugging.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23444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34416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2588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YOLOv8 Model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58191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YOLOv8 (Ultralytics) configured on NVIDIA RTX 3060 with CUDA 12.1 for accelerated inference. Targeting real-time &gt;30 FPS performance.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51460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262432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0604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Detection → Command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6207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Intended: camera → YOLOv8 bounding box → centroid → IK → 6 joint angles → ESP8266 servo commands. Partially implemented.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9476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390448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88620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Integration Issues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4223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Latency spikes in detection-to-command loop, coordinate mapping calibration errors, and serialization issues passing YOLO output into ROS2 topics.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0" y="5074920"/>
            <a:ext cx="8229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5184648"/>
            <a:ext cx="4572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6B8A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66360"/>
            <a:ext cx="7406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6"/>
                </a:solidFill>
                <a:latin typeface="Inter"/>
              </a:rPr>
              <a:t>Current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422392"/>
            <a:ext cx="7406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  <a:latin typeface="Inter"/>
              </a:rPr>
              <a:t>YOLO detects hands reliably in isolation. End-to-end integration from detection to servo command under active debugging and expected to resolve in next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Challenges &amp;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D6E"/>
                </a:solidFill>
                <a:latin typeface="Inter"/>
              </a:rPr>
              <a:t>Dual-track development: each track validated independently, converging at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Challenges &amp; Current Status   |   9/10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7150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2691E"/>
                </a:solidFill>
                <a:latin typeface="Inter"/>
              </a:rPr>
              <a:t>Hardware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65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All components procured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49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Specs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32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ESP8266 PWM firmware 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16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Individual servo response tested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4553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741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Full arm assembly &amp; wiring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57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Multi-servo coordinated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41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ROS2 ↔ ESP8266 serial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2245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IMU integration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280160"/>
            <a:ext cx="571500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3716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8A"/>
                </a:solidFill>
                <a:latin typeface="Inter"/>
              </a:rPr>
              <a:t>Software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7373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1965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URDF created after iterative adaptation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24942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Arm visualised in RViz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532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Gazebo simulation running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816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ros2_control JTC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09981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✅  YOLOv8 detection working in isolation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429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PENDING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3657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YOLO → ROS2 command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3941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Camera-to-workspace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22452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MoveIt2 motion 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45079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  <a:latin typeface="Inter"/>
              </a:rPr>
              <a:t>⏳  Autonomous mode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6692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2691E"/>
                </a:solidFill>
                <a:latin typeface="Inter"/>
              </a:rPr>
              <a:t>Key Challenge: The most significant obstacle was the absence of a ready-made URDF for the purchased arm kit, requiring multiple iterative reconstruction attempts before a working simulation model was produced.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C1A16"/>
                </a:solidFill>
                <a:latin typeface="Inter"/>
              </a:rPr>
              <a:t>Next Steps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7D6E"/>
                </a:solidFill>
                <a:latin typeface="Inter"/>
              </a:rPr>
              <a:t>Structured development path — testable artefact at every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7D6E"/>
                </a:solidFill>
                <a:latin typeface="Inter"/>
              </a:rPr>
              <a:t>Next Steps &amp; Roadmap   |   10/10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834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Inter"/>
              </a:rPr>
              <a:t>Hardware 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Wire all 6 servos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Connect 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626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PSU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38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Bench test all joints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325880"/>
            <a:ext cx="2834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8A"/>
                </a:solidFill>
                <a:latin typeface="Inter"/>
              </a:rPr>
              <a:t>ROS2 ↔ Hardware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ESP8266 serial bridge node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ROS2 JointTrajectory → servo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9626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Real HW controller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3438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ros2_control HW interface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1325880"/>
            <a:ext cx="2834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Inter"/>
              </a:rPr>
              <a:t>Vision Pipeline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Debug YOLO → ROS2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Camera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626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Coordinate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438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Latency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7736" y="1325880"/>
            <a:ext cx="283464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54896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7D6E"/>
                </a:solidFill>
                <a:latin typeface="Inter"/>
              </a:rPr>
              <a:t>P4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691E"/>
                </a:solidFill>
                <a:latin typeface="Inter"/>
              </a:rPr>
              <a:t>Full System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54896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Autonomous sorting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Gesture control (local)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54896" y="29626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Mode switching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4896" y="34381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035"/>
                </a:solidFill>
                <a:latin typeface="Inter"/>
              </a:rPr>
              <a:t>→  50-cycle stress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436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7D6E"/>
                </a:solidFill>
                <a:latin typeface="Inter"/>
              </a:rPr>
              <a:t>Each phase produces a standalone demonstrable prototype — ensuring progress is always presentable regardless of final timeline.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